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48" d="100"/>
          <a:sy n="48" d="100"/>
        </p:scale>
        <p:origin x="72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0EA4-B25E-79CA-0A6F-12393C70B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82777-8D7E-48CD-76B1-B83BDA2F0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32A1C-6A6E-F9D1-2DA8-BC8F77093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9EFFC-2864-7D56-6A25-C107249F8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B53D0-2167-4EA5-FBC8-156311C2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46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CEC8-A666-94A1-AE30-1509B00F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F1F5E-30F2-AF60-0607-C96A42E25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93FA0-3805-9991-D57C-1D9FA961C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95226-2C57-5323-1A83-3EECC533A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DA9C9-2000-8222-366A-E52224D8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7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4430-9D41-E7F6-2D90-273C5A6C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5A150-F74B-603E-E9AD-8349BB4D8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21ED6-C920-CBA4-3981-F72340F3E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4D6FA-2412-3CD5-CC75-AC194253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F640E-5AAC-177E-9A44-667961FF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88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3526-DEA1-11DC-AAD5-1B7BB351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41E27-1FB7-A55B-31C4-66D7C8601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DD220-9AEB-4AAF-1EA8-5E2735835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08A41-36E4-474C-E3D2-22835DB4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0325B-832F-1A0C-591A-81E9B8EA8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3FE0-F1D6-2EC2-726C-209BF74F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3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EE28-9F13-AE9A-CC22-DED80D9C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EE8E0-38F2-7167-DF6E-E8A692052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FC39D-95C3-B96F-5959-0B3B07ED4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BB287-045A-4592-AFBB-14C28AFCF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CED17-6B06-1370-2E16-47EF9E201A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19C47D-74FC-F31E-22A7-456A4C80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6D215-24E6-C331-8787-1DEAD6D76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F08FE-07CB-25BD-42F6-A3F7BE5B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1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1B71-65DB-F042-BD8D-A1A87D83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36DC60-5B43-D67C-F54C-23F2384E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00E10-9B03-191E-A76A-88DF35134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6ECF2-57C2-7424-062C-DF5D2577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94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BE4D2-2013-D94E-B96C-06C9FBFB7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E7703-5220-EDF8-1D09-020909BD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AADA2-91A0-7897-4BF9-2CA2C93D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4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3D39-2B5C-593B-62C0-7F5A99F90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B9E1C-7DE3-3CAB-7264-F6E9B8DB0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4BC77-0D9E-1C0A-B7AB-134BC2669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7A484-5CB9-2044-548D-41E96493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50989-B6B9-C7B4-1C60-39114E3E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93416-7271-C48E-71AC-FD64526C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31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D127-4BBB-DDA6-70E2-4763E4A2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B29D4-E381-31D3-457A-40066A23A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BE9E4-5EC9-6C26-1CEA-6467E4BCC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9D9C1-6074-B362-39FB-9BA8099F5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869F6-3D52-089C-6618-39F13C64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98828-27A2-1A01-3F58-C34D86A0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6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65240-10C7-D4F8-3FBF-96D02655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B0FC2-401B-A881-F145-3E090D48D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B5BCD-793A-BD62-2A6D-B491FB92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6251F-44A5-F89A-719B-F91575CD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AF949-4B05-1034-A719-5E656832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7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D60BBB-8A64-3849-05C3-DB09EBFD8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32CE4-BBC8-2EE1-4D72-B4E65A6D0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FB571-F72F-955F-D6CE-E546AB86F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5C13C-C3E1-3C3C-3661-DA59C95E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438EA-9252-BAD7-710D-84DF8FEC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7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27C2A-3F9D-71A8-01FC-43F169FB9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A64AD-39EE-3C09-BBB5-D30BD5F5C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28ADE-D03F-3472-C20F-45425EF00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2CAF1-9100-40FB-B1F0-3C89C2D4B33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F2B6E-FBC6-9925-0F9A-F765CD025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CB295-D33D-F5AA-D0C0-DB49309C1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7D8F3-BB73-4029-B8A7-BC1B9A8E8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5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asis-open.org/mqtt/mqtt/v3.1.1/mqtt-v3.1.1.html" TargetMode="External"/><Relationship Id="rId7" Type="http://schemas.openxmlformats.org/officeDocument/2006/relationships/hyperlink" Target="https://github.com/huuly721-design/mqtt-defense-lab" TargetMode="External"/><Relationship Id="rId2" Type="http://schemas.openxmlformats.org/officeDocument/2006/relationships/hyperlink" Target="https://mosquitto.org/man/mosquitto-conf-5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jst.vn/index.php/vjst" TargetMode="External"/><Relationship Id="rId5" Type="http://schemas.openxmlformats.org/officeDocument/2006/relationships/hyperlink" Target="https://owasp.org/www-project-internet-of-things/" TargetMode="External"/><Relationship Id="rId4" Type="http://schemas.openxmlformats.org/officeDocument/2006/relationships/hyperlink" Target="https://www.google.com/search?q=https://mic.gov.vn/chuong-trinh-muc-tieu-quoc-gia/quyet-dinh-so-1561-qd-btttt-ngay-17-8-2022-cua-bo-thong-tin-va-truyen-thong-ve-viec-phe-duyet-khung-danh-muc-ky-thuat-ve-dinh-danh-va-xac-thuc-dien-tu-150242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3B0FB7-3309-F572-44DF-7FB9508C8589}"/>
              </a:ext>
            </a:extLst>
          </p:cNvPr>
          <p:cNvSpPr txBox="1"/>
          <p:nvPr/>
        </p:nvSpPr>
        <p:spPr>
          <a:xfrm>
            <a:off x="3439324" y="477848"/>
            <a:ext cx="56869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MÔ PHỎNG PHÒNG THỦ MQTT</a:t>
            </a:r>
          </a:p>
          <a:p>
            <a:r>
              <a:rPr lang="en-US" sz="2800" b="1">
                <a:latin typeface="+mj-lt"/>
              </a:rPr>
              <a:t>     </a:t>
            </a:r>
            <a:r>
              <a:rPr lang="vi-VN" sz="2800" b="1">
                <a:latin typeface="+mj-lt"/>
              </a:rPr>
              <a:t>TRONG MÔI TRƯỜNG LAB</a:t>
            </a:r>
            <a:endParaRPr lang="en-US" sz="2800" b="1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1B320-CF2A-CB97-0E07-BC586B80D04E}"/>
              </a:ext>
            </a:extLst>
          </p:cNvPr>
          <p:cNvSpPr txBox="1"/>
          <p:nvPr/>
        </p:nvSpPr>
        <p:spPr>
          <a:xfrm>
            <a:off x="955695" y="1946787"/>
            <a:ext cx="92088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Môn học: Bảo mật trong IoT </a:t>
            </a:r>
            <a:br>
              <a:rPr lang="en-US" sz="30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Đề tài: 49. Mô phỏng phòng thủ MQTT trong môi trường Lab </a:t>
            </a:r>
            <a:br>
              <a:rPr lang="en-US" sz="30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Sinh viên: Lê Hữu Lý </a:t>
            </a:r>
            <a:br>
              <a:rPr lang="en-US" sz="30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MSSV: 231A011195</a:t>
            </a:r>
            <a:br>
              <a:rPr lang="en-US" sz="30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0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Lớp học phần:  253INT441001</a:t>
            </a:r>
            <a:br>
              <a:rPr lang="en-US" sz="30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GVHD:Hồ Nhựt Minh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391C3-9FFC-C1E2-CDBA-B4F55B73DDB8}"/>
              </a:ext>
            </a:extLst>
          </p:cNvPr>
          <p:cNvSpPr txBox="1"/>
          <p:nvPr/>
        </p:nvSpPr>
        <p:spPr>
          <a:xfrm>
            <a:off x="8158808" y="5386111"/>
            <a:ext cx="33272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Năm học 2025–2026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17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4AFD-35BD-CDE0-DE17-775F6A8B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1. Vấn đề bảo mật và mục tiêu</a:t>
            </a:r>
            <a:b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C398A-81F5-AE01-27B1-1469675BD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443"/>
            <a:ext cx="6842760" cy="4737520"/>
          </a:xfrm>
        </p:spPr>
        <p:txBody>
          <a:bodyPr>
            <a:normAutofit fontScale="40000" lnSpcReduction="20000"/>
          </a:bodyPr>
          <a:lstStyle/>
          <a:p>
            <a:r>
              <a:rPr lang="vi-VN"/>
              <a:t> </a:t>
            </a:r>
            <a:r>
              <a:rPr lang="vi-VN" sz="4800">
                <a:latin typeface="+mj-lt"/>
              </a:rPr>
              <a:t>MQTT là giao thức phổ biến trong hệ thống IoT.</a:t>
            </a:r>
          </a:p>
          <a:p>
            <a:endParaRPr lang="vi-VN" sz="4800">
              <a:latin typeface="+mj-lt"/>
            </a:endParaRPr>
          </a:p>
          <a:p>
            <a:r>
              <a:rPr lang="vi-VN" sz="4800">
                <a:latin typeface="+mj-lt"/>
              </a:rPr>
              <a:t>Nếu Broker không được cấu hình bảo mật, bất kỳ client nào cũng có thể kết nối.</a:t>
            </a:r>
          </a:p>
          <a:p>
            <a:endParaRPr lang="vi-VN" sz="4800">
              <a:latin typeface="+mj-lt"/>
            </a:endParaRPr>
          </a:p>
          <a:p>
            <a:r>
              <a:rPr lang="vi-VN" sz="4800">
                <a:latin typeface="+mj-lt"/>
              </a:rPr>
              <a:t> Điều này có thể dẫn đến truy cập trái phép hoặc gửi dữ liệu giả.</a:t>
            </a:r>
          </a:p>
          <a:p>
            <a:endParaRPr lang="vi-VN" sz="4800">
              <a:latin typeface="+mj-lt"/>
            </a:endParaRPr>
          </a:p>
          <a:p>
            <a:r>
              <a:rPr lang="vi-VN" sz="4800">
                <a:latin typeface="+mj-lt"/>
              </a:rPr>
              <a:t>Mục tiêu</a:t>
            </a:r>
          </a:p>
          <a:p>
            <a:endParaRPr lang="vi-VN" sz="4800">
              <a:latin typeface="+mj-lt"/>
            </a:endParaRPr>
          </a:p>
          <a:p>
            <a:pPr marL="0" indent="0">
              <a:buNone/>
            </a:pPr>
            <a:r>
              <a:rPr lang="vi-VN" sz="4800">
                <a:latin typeface="+mj-lt"/>
              </a:rPr>
              <a:t>• Xây dựng MQTT Broker có Authentication.</a:t>
            </a:r>
          </a:p>
          <a:p>
            <a:endParaRPr lang="vi-VN" sz="4800">
              <a:latin typeface="+mj-lt"/>
            </a:endParaRPr>
          </a:p>
          <a:p>
            <a:r>
              <a:rPr lang="vi-VN" sz="4800">
                <a:latin typeface="+mj-lt"/>
              </a:rPr>
              <a:t>Áp dụng ACL phân quyền.</a:t>
            </a:r>
          </a:p>
          <a:p>
            <a:endParaRPr lang="vi-VN" sz="4800">
              <a:latin typeface="+mj-lt"/>
            </a:endParaRPr>
          </a:p>
          <a:p>
            <a:r>
              <a:rPr lang="vi-VN" sz="4800">
                <a:latin typeface="+mj-lt"/>
              </a:rPr>
              <a:t>Kiểm thử client hợp lệ và client không hợp lệ.</a:t>
            </a:r>
            <a:endParaRPr lang="en-US" sz="480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6EB1D-9DE3-AEC5-2F0C-D1F55A71D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684" y="831809"/>
            <a:ext cx="4466720" cy="480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33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B32180-F1B8-83BC-A45B-845470233538}"/>
              </a:ext>
            </a:extLst>
          </p:cNvPr>
          <p:cNvSpPr txBox="1"/>
          <p:nvPr/>
        </p:nvSpPr>
        <p:spPr>
          <a:xfrm>
            <a:off x="1219693" y="617782"/>
            <a:ext cx="60969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2. Công cụ sử dụng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7B51E8-5162-C4B5-328B-8C4A40480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199661"/>
              </p:ext>
            </p:extLst>
          </p:nvPr>
        </p:nvGraphicFramePr>
        <p:xfrm>
          <a:off x="1219693" y="1327354"/>
          <a:ext cx="7517252" cy="4912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626">
                  <a:extLst>
                    <a:ext uri="{9D8B030D-6E8A-4147-A177-3AD203B41FA5}">
                      <a16:colId xmlns:a16="http://schemas.microsoft.com/office/drawing/2014/main" val="2025291898"/>
                    </a:ext>
                  </a:extLst>
                </a:gridCol>
                <a:gridCol w="3758626">
                  <a:extLst>
                    <a:ext uri="{9D8B030D-6E8A-4147-A177-3AD203B41FA5}">
                      <a16:colId xmlns:a16="http://schemas.microsoft.com/office/drawing/2014/main" val="2829039015"/>
                    </a:ext>
                  </a:extLst>
                </a:gridCol>
              </a:tblGrid>
              <a:tr h="818810">
                <a:tc>
                  <a:txBody>
                    <a:bodyPr/>
                    <a:lstStyle/>
                    <a:p>
                      <a:r>
                        <a:rPr lang="en-US"/>
                        <a:t>Công cụ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Chức năng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175663"/>
                  </a:ext>
                </a:extLst>
              </a:tr>
              <a:tr h="818810">
                <a:tc>
                  <a:txBody>
                    <a:bodyPr/>
                    <a:lstStyle/>
                    <a:p>
                      <a:r>
                        <a:rPr lang="en-US"/>
                        <a:t>Windows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Hệ điều hành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996105"/>
                  </a:ext>
                </a:extLst>
              </a:tr>
              <a:tr h="818810">
                <a:tc>
                  <a:txBody>
                    <a:bodyPr/>
                    <a:lstStyle/>
                    <a:p>
                      <a:r>
                        <a:rPr lang="en-US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Viết chương trình MQTT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901478"/>
                  </a:ext>
                </a:extLst>
              </a:tr>
              <a:tr h="818810">
                <a:tc>
                  <a:txBody>
                    <a:bodyPr/>
                    <a:lstStyle/>
                    <a:p>
                      <a:r>
                        <a:rPr lang="en-US"/>
                        <a:t>Visual Studio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Soạn mã nguồn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413623"/>
                  </a:ext>
                </a:extLst>
              </a:tr>
              <a:tr h="818810">
                <a:tc>
                  <a:txBody>
                    <a:bodyPr/>
                    <a:lstStyle/>
                    <a:p>
                      <a:r>
                        <a:rPr lang="en-US"/>
                        <a:t>Mosquitto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MQTT Broker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690801"/>
                  </a:ext>
                </a:extLst>
              </a:tr>
              <a:tr h="818810">
                <a:tc>
                  <a:txBody>
                    <a:bodyPr/>
                    <a:lstStyle/>
                    <a:p>
                      <a:r>
                        <a:rPr lang="en-US"/>
                        <a:t>Paho 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Thư viện MQTT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012660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3A597586-5026-5EEB-A7BD-17F3CAF97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778" y="808211"/>
            <a:ext cx="2363675" cy="1950531"/>
          </a:xfrm>
          <a:prstGeom prst="rect">
            <a:avLst/>
          </a:prstGeom>
        </p:spPr>
      </p:pic>
      <p:pic>
        <p:nvPicPr>
          <p:cNvPr id="15" name="Picture 14" descr="visual_studio_code_2017 - Discord Emoji">
            <a:extLst>
              <a:ext uri="{FF2B5EF4-FFF2-40B4-BE49-F238E27FC236}">
                <a16:creationId xmlns:a16="http://schemas.microsoft.com/office/drawing/2014/main" id="{F37349DC-E4B2-BEB5-D00A-2377B02C5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991" y="3486972"/>
            <a:ext cx="2068462" cy="234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8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1FB1B-78FD-124E-30F3-DEED3321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Mô hình hệ thống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CDC0B-6B87-FA27-7E3A-E01D42430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147" y="450386"/>
            <a:ext cx="5708649" cy="3878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3B9CA5-1B32-BA60-3D96-B77CC1D8784F}"/>
              </a:ext>
            </a:extLst>
          </p:cNvPr>
          <p:cNvSpPr txBox="1"/>
          <p:nvPr/>
        </p:nvSpPr>
        <p:spPr>
          <a:xfrm>
            <a:off x="6241484" y="4779348"/>
            <a:ext cx="609698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Hình 1. Mô hình hệ thống MQTT Lab</a:t>
            </a:r>
          </a:p>
        </p:txBody>
      </p:sp>
    </p:spTree>
    <p:extLst>
      <p:ext uri="{BB962C8B-B14F-4D97-AF65-F5344CB8AC3E}">
        <p14:creationId xmlns:p14="http://schemas.microsoft.com/office/powerpoint/2010/main" val="3657556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54B9A-C406-4A16-E9B9-4A0BC83F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31658" cy="1325563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4. Các bước triển khai</a:t>
            </a:r>
            <a:b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3EEE-1966-568D-5496-4BAEC7CEB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1. Cài Eclipse Mosquitto.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 Tạo MQTT Broker.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 Tạo passwordfile.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 Tạo aclfile.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5. Viết publisher.py.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6. Viết subscriber.py.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7. Viết unauthorized_client.py.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8. Kiểm thử hệ thống.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643C0-85BC-585A-9B89-0A007E26A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098" y="578137"/>
            <a:ext cx="6766560" cy="59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952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F7466-E4D4-8363-7B17-D2909E92B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5. Kết quả thực nghiệm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2C739-48A5-88C2-E50A-E77EB6083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467744"/>
            <a:ext cx="5131088" cy="3425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7F470D-1A4B-6376-A1BD-1A8895BB7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504230"/>
            <a:ext cx="5131087" cy="342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21756F-CBD5-CC4D-1B4A-AC2A20619DC9}"/>
              </a:ext>
            </a:extLst>
          </p:cNvPr>
          <p:cNvSpPr txBox="1"/>
          <p:nvPr/>
        </p:nvSpPr>
        <p:spPr>
          <a:xfrm>
            <a:off x="3737638" y="6137711"/>
            <a:ext cx="3878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 gửi dữ liệu thành công. 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Subscriber nhận dữ liệu đúng Topic.</a:t>
            </a:r>
          </a:p>
        </p:txBody>
      </p:sp>
    </p:spTree>
    <p:extLst>
      <p:ext uri="{BB962C8B-B14F-4D97-AF65-F5344CB8AC3E}">
        <p14:creationId xmlns:p14="http://schemas.microsoft.com/office/powerpoint/2010/main" val="186160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4FD8-CE44-02CB-2405-80473892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823" y="99654"/>
            <a:ext cx="4766187" cy="1325563"/>
          </a:xfrm>
        </p:spPr>
        <p:txBody>
          <a:bodyPr>
            <a:norm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6. Kiểm thử bảo mật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BE957-BA36-C3E2-3C1D-043AD20E0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645" y="1320487"/>
            <a:ext cx="9385381" cy="4217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660BDC-38FD-5C0A-6493-B83C12F4E4A4}"/>
              </a:ext>
            </a:extLst>
          </p:cNvPr>
          <p:cNvSpPr txBox="1"/>
          <p:nvPr/>
        </p:nvSpPr>
        <p:spPr>
          <a:xfrm>
            <a:off x="2983844" y="5565338"/>
            <a:ext cx="60969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Client không có quyền truy cập bị Broker từ chối. </a:t>
            </a:r>
            <a:b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và ACL hoạt động đúng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953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F071-5F18-5278-5D76-6DFBDA49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7. Đánh giábảo mật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41B21A-724D-08CD-7266-255849037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866078"/>
              </p:ext>
            </p:extLst>
          </p:nvPr>
        </p:nvGraphicFramePr>
        <p:xfrm>
          <a:off x="1551858" y="1504337"/>
          <a:ext cx="9088284" cy="4837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4142">
                  <a:extLst>
                    <a:ext uri="{9D8B030D-6E8A-4147-A177-3AD203B41FA5}">
                      <a16:colId xmlns:a16="http://schemas.microsoft.com/office/drawing/2014/main" val="568464304"/>
                    </a:ext>
                  </a:extLst>
                </a:gridCol>
                <a:gridCol w="4544142">
                  <a:extLst>
                    <a:ext uri="{9D8B030D-6E8A-4147-A177-3AD203B41FA5}">
                      <a16:colId xmlns:a16="http://schemas.microsoft.com/office/drawing/2014/main" val="82967604"/>
                    </a:ext>
                  </a:extLst>
                </a:gridCol>
              </a:tblGrid>
              <a:tr h="967494">
                <a:tc>
                  <a:txBody>
                    <a:bodyPr/>
                    <a:lstStyle/>
                    <a:p>
                      <a:r>
                        <a:rPr lang="en-US"/>
                        <a:t>Nguy cơ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Biện pháp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06481"/>
                  </a:ext>
                </a:extLst>
              </a:tr>
              <a:tr h="967494">
                <a:tc>
                  <a:txBody>
                    <a:bodyPr/>
                    <a:lstStyle/>
                    <a:p>
                      <a:r>
                        <a:rPr lang="en-US"/>
                        <a:t>Truy cập trái phép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Authentication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300447"/>
                  </a:ext>
                </a:extLst>
              </a:tr>
              <a:tr h="967494">
                <a:tc>
                  <a:txBody>
                    <a:bodyPr/>
                    <a:lstStyle/>
                    <a:p>
                      <a:r>
                        <a:rPr lang="en-US"/>
                        <a:t>Sai quyền 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0603"/>
                  </a:ext>
                </a:extLst>
              </a:tr>
              <a:tr h="967494">
                <a:tc>
                  <a:txBody>
                    <a:bodyPr/>
                    <a:lstStyle/>
                    <a:p>
                      <a:r>
                        <a:rPr lang="en-US"/>
                        <a:t>Lộ tài khoản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408898"/>
                  </a:ext>
                </a:extLst>
              </a:tr>
              <a:tr h="967494">
                <a:tc>
                  <a:txBody>
                    <a:bodyPr/>
                    <a:lstStyle/>
                    <a:p>
                      <a:r>
                        <a:rPr lang="en-US"/>
                        <a:t>Nghe lén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708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921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E8A5-FD34-C589-0F2D-BB86914B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8. Kết luận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0BF27-2F91-D202-205F-3F1246DFB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vi-VN">
                <a:latin typeface="+mj-lt"/>
              </a:rPr>
              <a:t>✓ Hoàn thành MQTT Lab.</a:t>
            </a:r>
          </a:p>
          <a:p>
            <a:endParaRPr lang="vi-VN">
              <a:latin typeface="+mj-lt"/>
            </a:endParaRPr>
          </a:p>
          <a:p>
            <a:r>
              <a:rPr lang="vi-VN">
                <a:latin typeface="+mj-lt"/>
              </a:rPr>
              <a:t>✓ Authentication hoạt động.</a:t>
            </a:r>
          </a:p>
          <a:p>
            <a:endParaRPr lang="vi-VN">
              <a:latin typeface="+mj-lt"/>
            </a:endParaRPr>
          </a:p>
          <a:p>
            <a:r>
              <a:rPr lang="vi-VN">
                <a:latin typeface="+mj-lt"/>
              </a:rPr>
              <a:t>✓ ACL hoạt động.</a:t>
            </a:r>
          </a:p>
          <a:p>
            <a:endParaRPr lang="vi-VN">
              <a:latin typeface="+mj-lt"/>
            </a:endParaRPr>
          </a:p>
          <a:p>
            <a:r>
              <a:rPr lang="vi-VN">
                <a:latin typeface="+mj-lt"/>
              </a:rPr>
              <a:t>✓ Unauthorized Client bị từ chối.</a:t>
            </a:r>
          </a:p>
          <a:p>
            <a:endParaRPr lang="vi-VN">
              <a:latin typeface="+mj-lt"/>
            </a:endParaRPr>
          </a:p>
          <a:p>
            <a:r>
              <a:rPr lang="vi-VN">
                <a:latin typeface="+mj-lt"/>
              </a:rPr>
              <a:t>Hạn chế</a:t>
            </a:r>
          </a:p>
          <a:p>
            <a:endParaRPr lang="vi-VN">
              <a:latin typeface="+mj-lt"/>
            </a:endParaRPr>
          </a:p>
          <a:p>
            <a:r>
              <a:rPr lang="vi-VN">
                <a:latin typeface="+mj-lt"/>
              </a:rPr>
              <a:t>• Chưa triển khai TLS.</a:t>
            </a:r>
          </a:p>
          <a:p>
            <a:endParaRPr lang="vi-VN">
              <a:latin typeface="+mj-lt"/>
            </a:endParaRPr>
          </a:p>
          <a:p>
            <a:r>
              <a:rPr lang="vi-VN">
                <a:latin typeface="+mj-lt"/>
              </a:rPr>
              <a:t>• Chưa dùng ESP32 thật</a:t>
            </a:r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2032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6641-0D06-2ACC-E4D4-D261E134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 Tài liệu tham khảo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AF9FC-218E-2A9B-9174-B896D33CB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Eclipse Mosquitto. (2025). </a:t>
            </a:r>
            <a:r>
              <a:rPr lang="en-US" i="1"/>
              <a:t>Mosquitto.conf security configuration and authentication manual</a:t>
            </a:r>
            <a:r>
              <a:rPr lang="en-US"/>
              <a:t>. Mosquitto Project. </a:t>
            </a:r>
            <a:r>
              <a:rPr lang="en-US" u="sng">
                <a:hlinkClick r:id="rId2"/>
              </a:rPr>
              <a:t>https://mosquitto.org/man/mosquitto-conf-5.html</a:t>
            </a:r>
            <a:endParaRPr lang="en-US"/>
          </a:p>
          <a:p>
            <a:r>
              <a:rPr lang="en-US"/>
              <a:t>OASIS Open. (2024). </a:t>
            </a:r>
            <a:r>
              <a:rPr lang="en-US" i="1"/>
              <a:t>MQTT Version 3.1.1 Specification: Core protocol definition</a:t>
            </a:r>
            <a:r>
              <a:rPr lang="en-US"/>
              <a:t>. OASIS Standard. </a:t>
            </a:r>
            <a:r>
              <a:rPr lang="en-US" u="sng">
                <a:hlinkClick r:id="rId3"/>
              </a:rPr>
              <a:t>https://docs.oasis-open.org/mqtt/mqtt/v3.1.1/mqtt-v3.1.1.html</a:t>
            </a:r>
            <a:endParaRPr lang="en-US"/>
          </a:p>
          <a:p>
            <a:r>
              <a:rPr lang="en-US"/>
              <a:t>Bộ Thông tin và Truyền thông. (2022). </a:t>
            </a:r>
            <a:r>
              <a:rPr lang="en-US" i="1"/>
              <a:t>Quyết định số 1561/QĐ-BTTTT về Phê duyệt Khung danh mục kỹ thuật về định danh và xác thực điện tử</a:t>
            </a:r>
            <a:r>
              <a:rPr lang="en-US"/>
              <a:t>. Cổng thông tin điện tử Bộ Thông tin và Truyền thông. </a:t>
            </a:r>
            <a:r>
              <a:rPr lang="en-US" u="sng">
                <a:hlinkClick r:id="rId4"/>
              </a:rPr>
              <a:t>https://mic.gov.vn/chuong-trinh-muc-tieu-quoc-gia/quyet-dinh-so-1561-qd-btttt-ngay-17-8-2022-cua-bo-thong-tin-va-truyen-thong-ve-viec-phe-duyet-khung-danh-muc-ky-thuat-ve-dinh-danh-va-xac-thuc-dien-tu-150242.htm</a:t>
            </a:r>
            <a:endParaRPr lang="en-US"/>
          </a:p>
          <a:p>
            <a:r>
              <a:rPr lang="en-US"/>
              <a:t>OWASP Foundation. (2023). </a:t>
            </a:r>
            <a:r>
              <a:rPr lang="en-US" i="1"/>
              <a:t>OWASP IoT Top 10: Vulnerabilities and security risks in Internet of Things</a:t>
            </a:r>
            <a:r>
              <a:rPr lang="en-US"/>
              <a:t>. OWASP Application Security. </a:t>
            </a:r>
            <a:r>
              <a:rPr lang="en-US" u="sng">
                <a:hlinkClick r:id="rId5"/>
              </a:rPr>
              <a:t>https://owasp.org/www-project-internet-of-things/</a:t>
            </a:r>
            <a:endParaRPr lang="en-US"/>
          </a:p>
          <a:p>
            <a:r>
              <a:rPr lang="en-US"/>
              <a:t>Nguyễn, T. H., &amp; Phạm, V. H. (2021). Nghiên cứu giải pháp kiểm soát truy cập và bảo mật cho giao thức truyền thông trong hệ sinh thái IoT. </a:t>
            </a:r>
            <a:r>
              <a:rPr lang="en-US" i="1"/>
              <a:t>Tạp chí Khoa học và Công nghệ Việt Nam</a:t>
            </a:r>
            <a:r>
              <a:rPr lang="en-US"/>
              <a:t>. </a:t>
            </a:r>
            <a:r>
              <a:rPr lang="en-US" u="sng">
                <a:hlinkClick r:id="rId6"/>
              </a:rPr>
              <a:t>https://vjst.vn/index.php/vjst</a:t>
            </a:r>
            <a:br>
              <a:rPr lang="en-US" u="sng"/>
            </a:br>
            <a:r>
              <a:rPr lang="en-US"/>
              <a:t>GitHub Repository của đề tài (2026): Mô phỏng phòng thủ MQTT trong môi trường lab</a:t>
            </a:r>
            <a:br>
              <a:rPr lang="en-US"/>
            </a:br>
            <a:r>
              <a:rPr lang="en-US">
                <a:hlinkClick r:id="rId7"/>
              </a:rPr>
              <a:t>huuly721-design/mqtt-defense-lab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2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613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1. Vấn đề bảo mật và mục tiêu  </vt:lpstr>
      <vt:lpstr>PowerPoint Presentation</vt:lpstr>
      <vt:lpstr>3. Mô hình hệ thống</vt:lpstr>
      <vt:lpstr>4. Các bước triển khai </vt:lpstr>
      <vt:lpstr>5. Kết quả thực nghiệm </vt:lpstr>
      <vt:lpstr>6. Kiểm thử bảo mật</vt:lpstr>
      <vt:lpstr>7. Đánh giábảo mật</vt:lpstr>
      <vt:lpstr>8. Kết luận </vt:lpstr>
      <vt:lpstr>9. Tài liệu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</dc:creator>
  <cp:lastModifiedBy>LY</cp:lastModifiedBy>
  <cp:revision>3</cp:revision>
  <dcterms:created xsi:type="dcterms:W3CDTF">2026-07-10T14:29:24Z</dcterms:created>
  <dcterms:modified xsi:type="dcterms:W3CDTF">2026-07-10T15:55:10Z</dcterms:modified>
</cp:coreProperties>
</file>